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254A8"/>
                </a:solidFill>
              </a:defRPr>
            </a:pPr>
            <a:r>
              <a:t>AgentCert Azure Production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A7D"/>
                </a:solidFill>
              </a:defRPr>
            </a:pPr>
            <a:r>
              <a:t>End-to-End Architecture and Component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A7D"/>
                </a:solidFill>
              </a:defRPr>
            </a:pPr>
            <a:r>
              <a:t>1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0515600" cy="4023360"/>
          </a:xfrm>
          <a:prstGeom prst="roundRect">
            <a:avLst/>
          </a:prstGeom>
          <a:solidFill>
            <a:srgbClr val="EDF4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3254A8"/>
                </a:solidFill>
              </a:defRPr>
            </a:pPr>
            <a:r>
              <a:t>AgentCert</a:t>
            </a:r>
          </a:p>
          <a:p>
            <a:pPr algn="ctr">
              <a:defRPr sz="2000">
                <a:solidFill>
                  <a:srgbClr val="212B36"/>
                </a:solidFill>
              </a:defRPr>
            </a:pPr>
            <a:r>
              <a:t>AI Agent Benchmarking for Chaos Engineering</a:t>
            </a:r>
          </a:p>
          <a:p>
            <a:pPr algn="ctr">
              <a:defRPr sz="1400">
                <a:solidFill>
                  <a:srgbClr val="5D6A7D"/>
                </a:solidFill>
              </a:defRPr>
            </a:pPr>
            <a:r>
              <a:t>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7AA8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D"/>
                </a:solidFill>
              </a:defRPr>
            </a:pPr>
            <a:r>
              <a:t>AgentCert Azure Production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254A8"/>
                </a:solidFill>
              </a:defRPr>
            </a:pPr>
            <a:r>
              <a:t>Deployment Architecture 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0116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A7D"/>
                </a:solidFill>
              </a:defRPr>
            </a:pPr>
            <a:r>
              <a:t>2 / 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383280" cy="1188720"/>
          </a:xfrm>
          <a:prstGeom prst="roundRect">
            <a:avLst/>
          </a:prstGeom>
          <a:solidFill>
            <a:srgbClr val="EDF4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User Entry Zone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Azure DNS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Application Gateway + WAF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AKS ingress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1188720"/>
          </a:xfrm>
          <a:prstGeom prst="roundRect">
            <a:avLst/>
          </a:prstGeom>
          <a:solidFill>
            <a:srgbClr val="EEFBF4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Compute Zone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AKS cluster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Control, execution, and benchmark workloads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63040"/>
            <a:ext cx="3383280" cy="1188720"/>
          </a:xfrm>
          <a:prstGeom prst="roundRect">
            <a:avLst/>
          </a:prstGeom>
          <a:solidFill>
            <a:srgbClr val="F6F0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Azure Services Zone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ACR, Key Vault, MongoDB/Cosmos DB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Azure OpenAI, Storage, Monitor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017520"/>
            <a:ext cx="6400800" cy="1143000"/>
          </a:xfrm>
          <a:prstGeom prst="roundRect">
            <a:avLst/>
          </a:prstGeom>
          <a:solidFill>
            <a:srgbClr val="FFF7EE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Observability Zone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Langfuse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Azure Monitor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OTEL-linked evidence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12B36"/>
                </a:solidFill>
              </a:defRPr>
            </a:pPr>
            <a:r>
              <a:t>Key point: Users enter through a secured edge, land on AKS, and rely on managed Azure services for secrets, models, telemetry, and state.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7AA8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D"/>
                </a:solidFill>
              </a:defRPr>
            </a:pPr>
            <a:r>
              <a:t>AgentCert Azure Production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254A8"/>
                </a:solidFill>
              </a:defRPr>
            </a:pPr>
            <a:r>
              <a:t>Detailed Azure Deployment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A7D"/>
                </a:solidFill>
              </a:defRPr>
            </a:pPr>
            <a:r>
              <a:t>Customer-hosted platform inside Azure region with managed services on the right 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A7D"/>
                </a:solidFill>
              </a:defRPr>
            </a:pPr>
            <a:r>
              <a:t>3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2057400" cy="4526280"/>
          </a:xfrm>
          <a:prstGeom prst="roundRect">
            <a:avLst/>
          </a:prstGeom>
          <a:solidFill>
            <a:srgbClr val="EDF4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97480" y="960120"/>
            <a:ext cx="65836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09760" y="1234440"/>
            <a:ext cx="2194560" cy="4526280"/>
          </a:xfrm>
          <a:prstGeom prst="roundRect">
            <a:avLst/>
          </a:prstGeom>
          <a:solidFill>
            <a:srgbClr val="F6F0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1737360" cy="822960"/>
          </a:xfrm>
          <a:prstGeom prst="roundRect">
            <a:avLst/>
          </a:prstGeom>
          <a:solidFill>
            <a:srgbClr val="EDF4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Entry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Users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DNS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App Gateway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Ingress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188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254A8"/>
                </a:solidFill>
              </a:defRPr>
            </a:pPr>
            <a:r>
              <a:t>AKS Cluster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645920"/>
            <a:ext cx="1920240" cy="2011680"/>
          </a:xfrm>
          <a:prstGeom prst="roundRect">
            <a:avLst/>
          </a:prstGeom>
          <a:solidFill>
            <a:srgbClr val="EDF4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litmus-chaos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Frontend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Auth server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GraphQL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Registry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645920"/>
            <a:ext cx="1920240" cy="2011680"/>
          </a:xfrm>
          <a:prstGeom prst="roundRect">
            <a:avLst/>
          </a:prstGeom>
          <a:solidFill>
            <a:srgbClr val="EEFBF4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litmus-exp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subscriber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event-tracker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workflow-controller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chaos-operator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645920"/>
            <a:ext cx="1783080" cy="2011680"/>
          </a:xfrm>
          <a:prstGeom prst="roundRect">
            <a:avLst/>
          </a:prstGeom>
          <a:solidFill>
            <a:srgbClr val="FFF7EE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Agent namespaces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flash-agent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install-agent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target apps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sidecar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3977639"/>
            <a:ext cx="580644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Shared integrations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Prometheus MCP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Kubernetes MCP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LiteLLM path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RBAC and rollout policies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1463040"/>
            <a:ext cx="1828800" cy="3566160"/>
          </a:xfrm>
          <a:prstGeom prst="roundRect">
            <a:avLst/>
          </a:prstGeom>
          <a:solidFill>
            <a:srgbClr val="F6F0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Azure managed services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ACR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Key Vault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MongoDB / Cosmos DB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Azure OpenAI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Langfuse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Monitor + Storage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7AA8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D"/>
                </a:solidFill>
              </a:defRPr>
            </a:pPr>
            <a:r>
              <a:t>AgentCert Azure Production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254A8"/>
                </a:solidFill>
              </a:defRPr>
            </a:pPr>
            <a:r>
              <a:t>Edge Layer: DNS, WAF, Ingress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0116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A7D"/>
                </a:solidFill>
              </a:defRPr>
            </a:pPr>
            <a:r>
              <a:t>4 / 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914400"/>
          </a:xfrm>
          <a:prstGeom prst="roundRect">
            <a:avLst/>
          </a:prstGeom>
          <a:solidFill>
            <a:srgbClr val="EDF4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Azure DNS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Production domain resolution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011680"/>
            <a:ext cx="2926080" cy="914400"/>
          </a:xfrm>
          <a:prstGeom prst="roundRect">
            <a:avLst/>
          </a:prstGeom>
          <a:solidFill>
            <a:srgbClr val="F6F0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Application Gateway + WAF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TLS, DDoS and L7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2011680"/>
            <a:ext cx="2560320" cy="914400"/>
          </a:xfrm>
          <a:prstGeom prst="roundRect">
            <a:avLst/>
          </a:prstGeom>
          <a:solidFill>
            <a:srgbClr val="EEFBF4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AKS Ingress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Service routing into 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Azure DNS exposes the production entrypoint.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Application Gateway terminates TLS and enforces WAF policies.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Ingress routes UI, API, and health traffic to the correct backend services.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Recommended hardening: private connectivity to stateful backends and path-based routing for API isolation.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7AA8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D"/>
                </a:solidFill>
              </a:defRPr>
            </a:pPr>
            <a:r>
              <a:t>AgentCert Azure Production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254A8"/>
                </a:solidFill>
              </a:defRPr>
            </a:pPr>
            <a:r>
              <a:t>Core Compute: AKS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0116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A7D"/>
                </a:solidFill>
              </a:defRPr>
            </a:pPr>
            <a:r>
              <a:t>5 / 17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064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297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Pod / Service</a:t>
                      </a:r>
                    </a:p>
                  </a:txBody>
                  <a:tcPr>
                    <a:solidFill>
                      <a:srgbClr val="3254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Namespace</a:t>
                      </a:r>
                    </a:p>
                  </a:txBody>
                  <a:tcPr>
                    <a:solidFill>
                      <a:srgbClr val="3254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3254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3254A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litmus-chaos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React / TypeScript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Web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GraphQL API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litmus-chaos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Go / gqlgen / Gin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Core API and orchestration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Auth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litmus-chaos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Go / REST + gRPC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JWT auth and user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Event Tracker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litmus-exp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Go controllers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Infrastructure event streaming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LitmusChaos + Argo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litmus-exp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Workflow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Chaos 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Agents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Agent namespaces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Helm + agent framework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Remediation execution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Agent Sidecar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Agent namespaces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Trace injection and 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LiteLLM Proxy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Shared integration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Python / FastAPI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LLM gateway with callbacks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OTEL Exporters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Control-plane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Go / OTEL SDK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Trace bridge to Langfuse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7AA8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D"/>
                </a:solidFill>
              </a:defRPr>
            </a:pPr>
            <a:r>
              <a:t>AgentCert Azure Production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254A8"/>
                </a:solidFill>
              </a:defRPr>
            </a:pPr>
            <a:r>
              <a:t>Data, Secrets and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0116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A7D"/>
                </a:solidFill>
              </a:defRPr>
            </a:pPr>
            <a:r>
              <a:t>6 / 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383280" cy="1920240"/>
          </a:xfrm>
          <a:prstGeom prst="roundRect">
            <a:avLst/>
          </a:prstGeom>
          <a:solidFill>
            <a:srgbClr val="EEFBF4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MongoDB / Cosmos DB for MongoDB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Users, projects, environments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Agents, apps, experiments, runs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Registry and audit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017520" cy="1920240"/>
          </a:xfrm>
          <a:prstGeom prst="roundRect">
            <a:avLst/>
          </a:prstGeom>
          <a:solidFill>
            <a:srgbClr val="EDF4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Azure Key Vault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DB credentials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JWT secrets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Langfuse keys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Azure OpenAI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645920"/>
            <a:ext cx="3383280" cy="1920240"/>
          </a:xfrm>
          <a:prstGeom prst="roundRect">
            <a:avLst/>
          </a:prstGeom>
          <a:solidFill>
            <a:srgbClr val="FFF7EE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Azure Storage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Workflow artifacts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Exports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Backups and long-term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Stateful services should use managed identity, secret rotation, and private endpoints where available.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MongoDB keeps platform state while Langfuse stores deep LLM trace and evaluation payloads.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7AA8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D"/>
                </a:solidFill>
              </a:defRPr>
            </a:pPr>
            <a:r>
              <a:t>AgentCert Azure Production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254A8"/>
                </a:solidFill>
              </a:defRPr>
            </a:pPr>
            <a:r>
              <a:t>MongoDB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0116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A7D"/>
                </a:solidFill>
              </a:defRPr>
            </a:pPr>
            <a:r>
              <a:t>7 / 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429000" cy="1188720"/>
          </a:xfrm>
          <a:prstGeom prst="roundRect">
            <a:avLst/>
          </a:prstGeom>
          <a:solidFill>
            <a:srgbClr val="EDF4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project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_id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name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members[]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280160"/>
            <a:ext cx="3429000" cy="1188720"/>
          </a:xfrm>
          <a:prstGeom prst="roundRect">
            <a:avLst/>
          </a:prstGeom>
          <a:solidFill>
            <a:srgbClr val="EEFBF4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environment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environment_id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project_id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type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infra_ids[]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280160"/>
            <a:ext cx="3429000" cy="1188720"/>
          </a:xfrm>
          <a:prstGeom prst="roundRect">
            <a:avLst/>
          </a:prstGeom>
          <a:solidFill>
            <a:srgbClr val="FFF7EE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chaosInfrastructures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infra_id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project_id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name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97480"/>
            <a:ext cx="3429000" cy="1188720"/>
          </a:xfrm>
          <a:prstGeom prst="roundRect">
            <a:avLst/>
          </a:prstGeom>
          <a:solidFill>
            <a:srgbClr val="F6F0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apps_registrations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appId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projectId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environmentId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namespace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697480"/>
            <a:ext cx="3429000" cy="1188720"/>
          </a:xfrm>
          <a:prstGeom prst="roundRect">
            <a:avLst/>
          </a:prstGeom>
          <a:solidFill>
            <a:srgbClr val="EDF4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agentRegistry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agentId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projectId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vendor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capabilities[]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endpoint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697480"/>
            <a:ext cx="3429000" cy="1188720"/>
          </a:xfrm>
          <a:prstGeom prst="roundRect">
            <a:avLst/>
          </a:prstGeom>
          <a:solidFill>
            <a:srgbClr val="EEFBF4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chaosExperiments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experiment_id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project_id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infra_id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revision[]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14800"/>
            <a:ext cx="3429000" cy="1188720"/>
          </a:xfrm>
          <a:prstGeom prst="roundRect">
            <a:avLst/>
          </a:prstGeom>
          <a:solidFill>
            <a:srgbClr val="FFF7EE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chaosExperimentRuns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experiment_run_id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experiment_id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phase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resiliency_score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114800"/>
            <a:ext cx="3429000" cy="1188720"/>
          </a:xfrm>
          <a:prstGeom prst="roundRect">
            <a:avLst/>
          </a:prstGeom>
          <a:solidFill>
            <a:srgbClr val="F6F0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chaosProbes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probe definitions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fault mappings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audit fields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4114800"/>
            <a:ext cx="3429000" cy="1188720"/>
          </a:xfrm>
          <a:prstGeom prst="roundRect">
            <a:avLst/>
          </a:prstGeom>
          <a:solidFill>
            <a:srgbClr val="EDF4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Supporting collections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chaosHubs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imageRegistry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serverConfig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gitops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faultStudios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Relationships: project -&gt; environment -&gt; apps_registrations; project -&gt; agentRegistry; project -&gt; chaosExperiments -&gt; chaosExperimentRuns; chaosInfrastructures links experiments and runs.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7AA8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D"/>
                </a:solidFill>
              </a:defRPr>
            </a:pPr>
            <a:r>
              <a:t>AgentCert Azure Production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254A8"/>
                </a:solidFill>
              </a:defRPr>
            </a:pPr>
            <a:r>
              <a:t>LLM Integration and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0116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A7D"/>
                </a:solidFill>
              </a:defRPr>
            </a:pPr>
            <a:r>
              <a:t>8 / 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20116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Agent / LLM Call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Prompt, tool use,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737360"/>
            <a:ext cx="2011680" cy="1005840"/>
          </a:xfrm>
          <a:prstGeom prst="roundRect">
            <a:avLst/>
          </a:prstGeom>
          <a:solidFill>
            <a:srgbClr val="EEFBF4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LiteLLM Proxy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Gateway, retries, callbacks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737360"/>
            <a:ext cx="2011680" cy="1005840"/>
          </a:xfrm>
          <a:prstGeom prst="roundRect">
            <a:avLst/>
          </a:prstGeom>
          <a:solidFill>
            <a:srgbClr val="FFF7EE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Azure OpenAI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Model 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737360"/>
            <a:ext cx="2011680" cy="1005840"/>
          </a:xfrm>
          <a:prstGeom prst="roundRect">
            <a:avLst/>
          </a:prstGeom>
          <a:solidFill>
            <a:srgbClr val="F6F0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Langfuse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Trace and score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LiteLLM centralizes model access, retries, auth abstraction, and callbacks.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Langfuse stores traces, observations, evaluation outputs, and dashboards.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OTEL bridge links Langfuse traces back to control-plane span context.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Agent sidecar stabilizes trace IDs and carries agent metadata through benchmark runs.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7AA8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D"/>
                </a:solidFill>
              </a:defRPr>
            </a:pPr>
            <a:r>
              <a:t>AgentCert Azure Production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254A8"/>
                </a:solidFill>
              </a:defRPr>
            </a:pPr>
            <a:r>
              <a:t>Detailed Deployment and Runtime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0116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A7D"/>
                </a:solidFill>
              </a:defRPr>
            </a:pPr>
            <a:r>
              <a:t>9 / 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566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254A8"/>
                </a:solidFill>
              </a:defRPr>
            </a:pPr>
            <a:r>
              <a:t>1. Build and publish</a:t>
            </a:r>
          </a:p>
          <a:p>
            <a:pPr>
              <a:defRPr sz="1000">
                <a:solidFill>
                  <a:srgbClr val="212B36"/>
                </a:solidFill>
              </a:defRPr>
            </a:pPr>
            <a:r>
              <a:t>Build GraphQL, auth, sidecar, LiteLLM, flash-agent, and install-agent images and push to ACR.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566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254A8"/>
                </a:solidFill>
              </a:defRPr>
            </a:pPr>
            <a:r>
              <a:t>2. Bootstrap cluster</a:t>
            </a:r>
          </a:p>
          <a:p>
            <a:pPr>
              <a:defRPr sz="1000">
                <a:solidFill>
                  <a:srgbClr val="212B36"/>
                </a:solidFill>
              </a:defRPr>
            </a:pPr>
            <a:r>
              <a:t>Create namespaces, RBAC, CRDs, service accounts, and Litmus controllers before rollout 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645920"/>
            <a:ext cx="3566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254A8"/>
                </a:solidFill>
              </a:defRPr>
            </a:pPr>
            <a:r>
              <a:t>3. Deploy control plane</a:t>
            </a:r>
          </a:p>
          <a:p>
            <a:pPr>
              <a:defRPr sz="1000">
                <a:solidFill>
                  <a:srgbClr val="212B36"/>
                </a:solidFill>
              </a:defRPr>
            </a:pPr>
            <a:r>
              <a:t>Roll out frontend, auth, and GraphQL first so registry and operator APIs are available.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80360"/>
            <a:ext cx="3566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254A8"/>
                </a:solidFill>
              </a:defRPr>
            </a:pPr>
            <a:r>
              <a:t>4. Activate execution plane</a:t>
            </a:r>
          </a:p>
          <a:p>
            <a:pPr>
              <a:defRPr sz="1000">
                <a:solidFill>
                  <a:srgbClr val="212B36"/>
                </a:solidFill>
              </a:defRPr>
            </a:pPr>
            <a:r>
              <a:t>Bring up subscriber, event-tracker, workflow-controller, chaos-operator, and exporter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880360"/>
            <a:ext cx="3566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254A8"/>
                </a:solidFill>
              </a:defRPr>
            </a:pPr>
            <a:r>
              <a:t>5. Run benchmark</a:t>
            </a:r>
          </a:p>
          <a:p>
            <a:pPr>
              <a:defRPr sz="1000">
                <a:solidFill>
                  <a:srgbClr val="212B36"/>
                </a:solidFill>
              </a:defRPr>
            </a:pPr>
            <a:r>
              <a:t>Link agent, target application, and fault plan; measure detection and remediation behavior.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880360"/>
            <a:ext cx="3566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254A8"/>
                </a:solidFill>
              </a:defRPr>
            </a:pPr>
            <a:r>
              <a:t>6. Capture evidence</a:t>
            </a:r>
          </a:p>
          <a:p>
            <a:pPr>
              <a:defRPr sz="1000">
                <a:solidFill>
                  <a:srgbClr val="212B36"/>
                </a:solidFill>
              </a:defRPr>
            </a:pPr>
            <a:r>
              <a:t>Correlate OTEL, Langfuse, Kubernetes logs, and Mongo-backed run state into verdicts.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7AA8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D"/>
                </a:solidFill>
              </a:defRPr>
            </a:pPr>
            <a:r>
              <a:t>AgentCert Azure Production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254A8"/>
                </a:solidFill>
              </a:defRPr>
            </a:pPr>
            <a:r>
              <a:t>Container Registry: Azure ACR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0116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A7D"/>
                </a:solidFill>
              </a:defRPr>
            </a:pPr>
            <a:r>
              <a:t>10 /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agentcert/litmusportal-server:3.0.0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agentcert/graphql-server:latest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agentcert/auth-service:latest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agentcert/agentcert-flash-agent:latest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agentcert/agentcert-install-agent:latest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agentcert/agent-sidecar:latest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agentcert/agentcert-litellm-proxy:latest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litmuschaos/* supporting images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7AA8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D"/>
                </a:solidFill>
              </a:defRPr>
            </a:pPr>
            <a:r>
              <a:t>AgentCert Azure Production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254A8"/>
                </a:solidFill>
              </a:defRPr>
            </a:pPr>
            <a:r>
              <a:t>Azure Monitor and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0116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A7D"/>
                </a:solidFill>
              </a:defRPr>
            </a:pPr>
            <a:r>
              <a:t>11 / 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029200" cy="1828800"/>
          </a:xfrm>
          <a:prstGeom prst="roundRect">
            <a:avLst/>
          </a:prstGeom>
          <a:solidFill>
            <a:srgbClr val="EDF4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Azure Monitor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Pod metrics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Container logs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Custom dashboards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Alert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029200" cy="1828800"/>
          </a:xfrm>
          <a:prstGeom prst="roundRect">
            <a:avLst/>
          </a:prstGeom>
          <a:solidFill>
            <a:srgbClr val="F6F0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Langfuse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LLM traces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Evaluation scores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Agent decisions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Performance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Monitor API latency, pod restarts, rollout health, queue depth, and trace quality.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Operationally important signals include ReplicaSet creation, controller restart counts, and namespace quota pressure.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7AA8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D"/>
                </a:solidFill>
              </a:defRPr>
            </a:pPr>
            <a:r>
              <a:t>AgentCert Azure Production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254A8"/>
                </a:solidFill>
              </a:defRPr>
            </a:pPr>
            <a:r>
              <a:t>Build and Release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0116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A7D"/>
                </a:solidFill>
              </a:defRPr>
            </a:pPr>
            <a:r>
              <a:t>12 / 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566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254A8"/>
                </a:solidFill>
              </a:defRPr>
            </a:pPr>
            <a:r>
              <a:t>Code push</a:t>
            </a:r>
          </a:p>
          <a:p>
            <a:pPr>
              <a:defRPr sz="1000">
                <a:solidFill>
                  <a:srgbClr val="212B36"/>
                </a:solidFill>
              </a:defRPr>
            </a:pPr>
            <a:r>
              <a:t>Source changes land in GitHub.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566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254A8"/>
                </a:solidFill>
              </a:defRPr>
            </a:pPr>
            <a:r>
              <a:t>CI build</a:t>
            </a:r>
          </a:p>
          <a:p>
            <a:pPr>
              <a:defRPr sz="1000">
                <a:solidFill>
                  <a:srgbClr val="212B36"/>
                </a:solidFill>
              </a:defRPr>
            </a:pPr>
            <a:r>
              <a:t>GitHub Actions or Azure DevOps builds and tests images.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645920"/>
            <a:ext cx="3566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254A8"/>
                </a:solidFill>
              </a:defRPr>
            </a:pPr>
            <a:r>
              <a:t>Push to ACR</a:t>
            </a:r>
          </a:p>
          <a:p>
            <a:pPr>
              <a:defRPr sz="1000">
                <a:solidFill>
                  <a:srgbClr val="212B36"/>
                </a:solidFill>
              </a:defRPr>
            </a:pPr>
            <a:r>
              <a:t>Versioned images are published to Azure Container Registry.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80360"/>
            <a:ext cx="3566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254A8"/>
                </a:solidFill>
              </a:defRPr>
            </a:pPr>
            <a:r>
              <a:t>Deploy to AKS</a:t>
            </a:r>
          </a:p>
          <a:p>
            <a:pPr>
              <a:defRPr sz="1000">
                <a:solidFill>
                  <a:srgbClr val="212B36"/>
                </a:solidFill>
              </a:defRPr>
            </a:pPr>
            <a:r>
              <a:t>Helm and kubectl apply runtime configuration and chart updates.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880360"/>
            <a:ext cx="3566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254A8"/>
                </a:solidFill>
              </a:defRPr>
            </a:pPr>
            <a:r>
              <a:t>Secret injection</a:t>
            </a:r>
          </a:p>
          <a:p>
            <a:pPr>
              <a:defRPr sz="1000">
                <a:solidFill>
                  <a:srgbClr val="212B36"/>
                </a:solidFill>
              </a:defRPr>
            </a:pPr>
            <a:r>
              <a:t>Runtime secrets come from Key Vault-backed 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880360"/>
            <a:ext cx="3566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254A8"/>
                </a:solidFill>
              </a:defRPr>
            </a:pPr>
            <a:r>
              <a:t>Health validation</a:t>
            </a:r>
          </a:p>
          <a:p>
            <a:pPr>
              <a:defRPr sz="1000">
                <a:solidFill>
                  <a:srgbClr val="212B36"/>
                </a:solidFill>
              </a:defRPr>
            </a:pPr>
            <a:r>
              <a:t>Smoke tests, rollout checks, and post-deploy verification gates.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7AA8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D"/>
                </a:solidFill>
              </a:defRPr>
            </a:pPr>
            <a:r>
              <a:t>AgentCert Azure Production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254A8"/>
                </a:solidFill>
              </a:defRPr>
            </a:pPr>
            <a:r>
              <a:t>Security and Optional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0116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A7D"/>
                </a:solidFill>
              </a:defRPr>
            </a:pPr>
            <a:r>
              <a:t>13 /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Implemented: Key Vault for secrets management, ACR image scanning, AKS network policies.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Optional hardening: VNet private endpoints for MongoDB, Key Vault, and Azure OpenAI.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Optional hardening: NSGs, Microsoft Entra ID, pod security standards, and managed identity everywhere possible.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Separate node pools for control-plane pods, experiment controllers, and heavier agent workloads when resource shapes diverge.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7AA8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D"/>
                </a:solidFill>
              </a:defRPr>
            </a:pPr>
            <a:r>
              <a:t>AgentCert Azure Production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254A8"/>
                </a:solidFill>
              </a:defRPr>
            </a:pPr>
            <a:r>
              <a:t>Operations, Scaling and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0116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A7D"/>
                </a:solidFill>
              </a:defRPr>
            </a:pPr>
            <a:r>
              <a:t>14 / 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1920240"/>
          </a:xfrm>
          <a:prstGeom prst="roundRect">
            <a:avLst/>
          </a:prstGeom>
          <a:solidFill>
            <a:srgbClr val="EDF4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Scaling model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Scale UI/API separately from execution controllers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Use dedicated node pools for heavier benchmark workloads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74720" cy="1920240"/>
          </a:xfrm>
          <a:prstGeom prst="roundRect">
            <a:avLst/>
          </a:prstGeom>
          <a:solidFill>
            <a:srgbClr val="EEFBF4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Recovery model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Preserve MongoDB, Langfuse, Helm values, and exports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Support replay and audit after outage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74720" cy="1920240"/>
          </a:xfrm>
          <a:prstGeom prst="roundRect">
            <a:avLst/>
          </a:prstGeom>
          <a:solidFill>
            <a:srgbClr val="FFF7EE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Support model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Runbooks for namespace bootstrap, rollout failures, ACR pulls, and secret access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Day-2 checks for quotas and certificate expiry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7AA8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D"/>
                </a:solidFill>
              </a:defRPr>
            </a:pPr>
            <a:r>
              <a:t>AgentCert Azure Production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254A8"/>
                </a:solidFill>
              </a:defRPr>
            </a:pPr>
            <a:r>
              <a:t>Production Deployment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0116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A7D"/>
                </a:solidFill>
              </a:defRPr>
            </a:pPr>
            <a:r>
              <a:t>15 / 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3474720" cy="3474720"/>
          </a:xfrm>
          <a:prstGeom prst="roundRect">
            <a:avLst/>
          </a:prstGeom>
          <a:solidFill>
            <a:srgbClr val="EDF4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Pre-deployment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Azure subscription and resource group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AKS cluster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MongoDB / Cosmos DB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ACR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Key Vault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Azure OpenAI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2926080" cy="3474720"/>
          </a:xfrm>
          <a:prstGeom prst="roundRect">
            <a:avLst/>
          </a:prstGeom>
          <a:solidFill>
            <a:srgbClr val="EEFBF4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Deployment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Build and push images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Configure Helm values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Sync secrets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Run Helm install or upgrade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Pass health checks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463040"/>
            <a:ext cx="3749039" cy="3474720"/>
          </a:xfrm>
          <a:prstGeom prst="roundRect">
            <a:avLst/>
          </a:prstGeom>
          <a:solidFill>
            <a:srgbClr val="FFF7EE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54A8"/>
                </a:solidFill>
              </a:defRPr>
            </a:pPr>
            <a:r>
              <a:t>Post-deployment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DNS points to App Gateway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TLS certificate active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Monitoring dashboards live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Backups enabled</a:t>
            </a:r>
          </a:p>
          <a:p>
            <a:pPr>
              <a:spcBef>
                <a:spcPts val="400"/>
              </a:spcBef>
              <a:defRPr sz="1100">
                <a:solidFill>
                  <a:srgbClr val="212B36"/>
                </a:solidFill>
              </a:defRPr>
            </a:pPr>
            <a:r>
              <a:t>DR plan documented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7AA8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D"/>
                </a:solidFill>
              </a:defRPr>
            </a:pPr>
            <a:r>
              <a:t>AgentCert Azure Production Deployment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254A8"/>
                </a:solidFill>
              </a:defRPr>
            </a:pPr>
            <a:r>
              <a:t>Production Resource Estimates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0116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A7D"/>
                </a:solidFill>
              </a:defRPr>
            </a:pPr>
            <a:r>
              <a:t>16 / 17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389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3254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SKU / Configuration</a:t>
                      </a:r>
                    </a:p>
                  </a:txBody>
                  <a:tcPr>
                    <a:solidFill>
                      <a:srgbClr val="3254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3254A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AKS Cluster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3 nodes, Standard_D2s_v3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$300-400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Cosmos DB MongoDB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400 RU/s, multi-region option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$200-500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Azure 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gpt-4.1-mini + embeddings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$50-500 usage-based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Azure Container Registry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Premium tier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$100-200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Key Vault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Standard 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$10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Azure Monitor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Ingestion + 30-day retention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$50-200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App 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Standard tier with WAF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$30-50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Storage Account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Blob, geo-redundant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$20-100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Total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Varies by region and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</a:defRPr>
                      </a:pPr>
                      <a:r>
                        <a:t>~$750-2000/month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7AA8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D"/>
                </a:solidFill>
              </a:defRPr>
            </a:pPr>
            <a:r>
              <a:t>AgentCert Azure Production Deployment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254A8"/>
                </a:solidFill>
              </a:defRPr>
            </a:pPr>
            <a:r>
              <a:t>Summary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0116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A7D"/>
                </a:solidFill>
              </a:defRPr>
            </a:pPr>
            <a:r>
              <a:t>17 /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Detailed Azure deployment topology with namespace separation.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MongoDB data model for platform state and benchmark evidence.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Secure edge, AKS workloads, Azure managed services, observability, and CI/CD coverage.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Operational scaling, recovery, and day-2 support guidance.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Provision Azure resources.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Configure production Helm values.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Enable dashboards and alert rules.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Run staging dry-run deployment and rollback rehearsal.</a:t>
            </a:r>
          </a:p>
          <a:p>
            <a:pPr>
              <a:spcAft>
                <a:spcPts val="500"/>
              </a:spcAft>
              <a:defRPr sz="1500">
                <a:solidFill>
                  <a:srgbClr val="212B36"/>
                </a:solidFill>
              </a:defRPr>
            </a:pPr>
            <a:r>
              <a:t>Train operations team on runbooks.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7AA8FF"/>
          </a:solidFill>
          <a:ln>
            <a:solidFill>
              <a:srgbClr val="7A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D"/>
                </a:solidFill>
              </a:defRPr>
            </a:pPr>
            <a:r>
              <a:t>AgentCert Azure Production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